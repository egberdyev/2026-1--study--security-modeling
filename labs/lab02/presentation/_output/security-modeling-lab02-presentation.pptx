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032255390@rudn.ru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137/141000671" TargetMode="External" /><Relationship Id="rId3" Type="http://schemas.openxmlformats.org/officeDocument/2006/relationships/hyperlink" Target="https://doi.org/10.21105/joss.02673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Основы вероятностного моделирования угроз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 2</a:t>
            </a:r>
            <a:br/>
            <a:br/>
            <a:r>
              <a:rPr/>
              <a:t>Бердыев Эзиз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2026-09-04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Бердыев Эзиз</a:t>
            </a:r>
          </a:p>
          <a:p>
            <a:pPr lvl="0"/>
            <a:r>
              <a:rPr/>
              <a:t>студент группы НФИмд-01-25</a:t>
            </a:r>
          </a:p>
          <a:p>
            <a:pPr lvl="0"/>
            <a:r>
              <a:rPr/>
              <a:t>Российский университет дружбы народов им. П. Лумумбы</a:t>
            </a:r>
          </a:p>
          <a:p>
            <a:pPr lvl="0"/>
            <a:r>
              <a:rPr>
                <a:hlinkClick r:id="rId2"/>
              </a:rPr>
              <a:t>1032255390@rudn.ru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Вводная часть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Актуальность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Поток атак на сервер — случайный процесс, и планировать защиту по среднему значению недостаточно.</a:t>
            </a:r>
          </a:p>
          <a:p>
            <a:pPr lvl="0"/>
            <a:r>
              <a:rPr/>
              <a:t>Практический вопрос звучит иначе: какова вероятность, что нагрузка превысит критический порог?</a:t>
            </a:r>
          </a:p>
          <a:p>
            <a:pPr lvl="0"/>
            <a:r>
              <a:rPr/>
              <a:t>Ответ на него определяет запас производительности и пороги срабатывания систем обнаружения атак.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Объект и предмет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Объект</a:t>
            </a:r>
            <a:r>
              <a:rPr/>
              <a:t> — поток атак на веб-сервер как случайный процесс.</a:t>
            </a:r>
          </a:p>
          <a:p>
            <a:pPr lvl="0"/>
            <a:r>
              <a:rPr b="1"/>
              <a:t>Предмет</a:t>
            </a:r>
            <a:r>
              <a:rPr/>
              <a:t> — пуассоновская модель потока и точность статистической оценки вероятности редкого события.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Цели и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Цель</a:t>
            </a:r>
            <a:r>
              <a:rPr/>
              <a:t> — освоить базовые методы вероятностного моделирования случайных процессов в контексте кибербезопасности.</a:t>
            </a:r>
          </a:p>
          <a:p>
            <a:pPr lvl="0" indent="0" marL="0">
              <a:buNone/>
            </a:pPr>
            <a:r>
              <a:rPr b="1"/>
              <a:t>Задачи:</a:t>
            </a:r>
          </a:p>
          <a:p>
            <a:pPr lvl="0"/>
            <a:r>
              <a:rPr/>
              <a:t>реализовать модель пуассоновского потока атак;</a:t>
            </a:r>
          </a:p>
          <a:p>
            <a:pPr lvl="0"/>
            <a:r>
              <a:rPr/>
              <a:t>проверить соответствие числа атак и интервалов теоретическим законам;</a:t>
            </a:r>
          </a:p>
          <a:p>
            <a:pPr lvl="0"/>
            <a:r>
              <a:rPr/>
              <a:t>оценить вероятность события «более 10 атак за час» двумя способами;</a:t>
            </a:r>
          </a:p>
          <a:p>
            <a:pPr lvl="0"/>
            <a:r>
              <a:rPr/>
              <a:t>исследовать сходимость оценки при росте объёма выборки;</a:t>
            </a:r>
          </a:p>
          <a:p>
            <a:pPr lvl="0"/>
            <a:r>
              <a:rPr/>
              <a:t>выполнить параметрическое исследование по интенсивности.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Материалы и методы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Язык Julia [1], пакеты Distributions.jl, StatsPlots.jl;</a:t>
            </a:r>
          </a:p>
          <a:p>
            <a:pPr lvl="0"/>
            <a:r>
              <a:rPr/>
              <a:t>DrWatson — структура проекта и именование результатов [2];</a:t>
            </a:r>
          </a:p>
          <a:p>
            <a:pPr lvl="0"/>
            <a:r>
              <a:rPr/>
              <a:t>теория пуассоновских процессов [3];</a:t>
            </a:r>
          </a:p>
          <a:p>
            <a:pPr lvl="0"/>
            <a:r>
              <a:rPr/>
              <a:t>Literate.jl — литературное программирование.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Основная часть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потока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Число атак за интервал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{</m:t>
                      </m:r>
                      <m: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}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λ</m:t>
                                  </m:r>
                                  <m:r>
                                    <m:t>T</m:t>
                                  </m:r>
                                </m:e>
                              </m:d>
                            </m:e>
                            <m:sup>
                              <m:r>
                                <m:t>k</m:t>
                              </m:r>
                            </m:sup>
                          </m:sSup>
                        </m:num>
                        <m:den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!</m:t>
                          </m:r>
                        </m:den>
                      </m:f>
                      <m:r>
                        <m:t> 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λ</m:t>
                          </m:r>
                          <m:r>
                            <m:t>T</m:t>
                          </m:r>
                        </m:sup>
                      </m:sSup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Интервалы между атаками: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τ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λ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λ</m:t>
                          </m:r>
                          <m:r>
                            <m:t>x</m:t>
                          </m:r>
                        </m:sup>
                      </m:sSup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Это два эквивалентных описания одного процесса — оба используются в коде.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simulate_attacks</a:t>
            </a:r>
            <a:r>
              <a:rPr>
                <a:latin typeface="Courier"/>
              </a:rPr>
              <a:t>(λ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solidFill>
                  <a:srgbClr val="902000"/>
                </a:solidFill>
                <a:latin typeface="Courier"/>
              </a:rPr>
              <a:t>Float64</a:t>
            </a:r>
            <a:r>
              <a:rPr>
                <a:latin typeface="Courier"/>
              </a:rPr>
              <a:t>, T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solidFill>
                  <a:srgbClr val="902000"/>
                </a:solidFill>
                <a:latin typeface="Courier"/>
              </a:rPr>
              <a:t>Float64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hourly_counts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rand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Poisson</a:t>
            </a:r>
            <a:r>
              <a:rPr>
                <a:latin typeface="Courier"/>
              </a:rPr>
              <a:t>(λ), </a:t>
            </a:r>
            <a:r>
              <a:rPr>
                <a:solidFill>
                  <a:srgbClr val="06287E"/>
                </a:solidFill>
                <a:latin typeface="Courier"/>
              </a:rPr>
              <a:t>floor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, T))</a:t>
            </a:r>
            <a:br/>
            <a:br/>
            <a:r>
              <a:rPr>
                <a:latin typeface="Courier"/>
              </a:rPr>
              <a:t>    intervals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Float64</a:t>
            </a:r>
            <a:r>
              <a:rPr>
                <a:latin typeface="Courier"/>
              </a:rPr>
              <a:t>[]</a:t>
            </a:r>
            <a:br/>
            <a:r>
              <a:rPr>
                <a:latin typeface="Courier"/>
              </a:rPr>
              <a:t>    total_time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total_time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T</a:t>
            </a:r>
            <a:br/>
            <a:r>
              <a:rPr>
                <a:latin typeface="Courier"/>
              </a:rPr>
              <a:t>        τ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rand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Exponential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λ))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push!</a:t>
            </a:r>
            <a:r>
              <a:rPr>
                <a:latin typeface="Courier"/>
              </a:rPr>
              <a:t>(intervals, τ)</a:t>
            </a:r>
            <a:br/>
            <a:r>
              <a:rPr>
                <a:latin typeface="Courier"/>
              </a:rPr>
              <a:t>        total_time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τ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  <a:br/>
            <a:r>
              <a:rPr>
                <a:latin typeface="Courier"/>
              </a:rPr>
              <a:t>    total_time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 </a:t>
            </a:r>
            <a:r>
              <a:rPr>
                <a:solidFill>
                  <a:srgbClr val="666666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pop!</a:t>
            </a:r>
            <a:r>
              <a:rPr>
                <a:latin typeface="Courier"/>
              </a:rPr>
              <a:t>(intervals)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(hourly_counts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hourly_counts,</a:t>
            </a:r>
            <a:br/>
            <a:r>
              <a:rPr>
                <a:latin typeface="Courier"/>
              </a:rPr>
              <a:t>            intervals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intervals,</a:t>
            </a:r>
            <a:br/>
            <a:r>
              <a:rPr>
                <a:latin typeface="Courier"/>
              </a:rPr>
              <a:t>            attack_times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cumsum</a:t>
            </a:r>
            <a:r>
              <a:rPr>
                <a:latin typeface="Courier"/>
              </a:rPr>
              <a:t>(intervals))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распределений</a:t>
            </a:r>
          </a:p>
        </p:txBody>
      </p:sp>
      <p:pic>
        <p:nvPicPr>
          <p:cNvPr descr="image/20260404T190001--poisson-attack-flow-analysis__lab02_julia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17800" y="1193800"/>
            <a:ext cx="3708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 1: Распределение числа атак, накопление атак, интервалы и QQ-график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Оценка вероятности перегрузки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Событие «более 10 атак за час» при </a:t>
                </a:r>
                <a14:m>
                  <m:oMath xmlns:m="http://schemas.openxmlformats.org/officeDocument/2006/math">
                    <m:r>
                      <m:t>λ</m:t>
                    </m:r>
                    <m:r>
                      <m:rPr>
                        <m:sty m:val="p"/>
                      </m:rPr>
                      <m:t>=</m:t>
                    </m:r>
                    <m:r>
                      <m:t>5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:r>
                  <a:rPr/>
                  <a:t>Расхождение — около </a:t>
                </a:r>
                <a14:m>
                  <m:oMath xmlns:m="http://schemas.openxmlformats.org/officeDocument/2006/math">
                    <m:r>
                      <m:t>2.7</m:t>
                    </m:r>
                    <m:r>
                      <m:t> </m:t>
                    </m:r>
                    <m:r>
                      <m:t>σ</m:t>
                    </m:r>
                  </m:oMath>
                </a14:m>
                <a:r>
                  <a:rPr/>
                  <a:t>: редкое событие наступило всего 168 раз, поэтому разброс оценки велик.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Сходимость оценки</a:t>
            </a:r>
          </a:p>
        </p:txBody>
      </p:sp>
      <p:pic>
        <p:nvPicPr>
          <p:cNvPr descr="image/20260404T190002--probability-estimate-convergence__lab02_julia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 2: Сходимость эмпирической оценки к теоретическому значению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При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  <a:r>
                  <a:rPr/>
                  <a:t> отклонение составило </a:t>
                </a:r>
                <a14:m>
                  <m:oMath xmlns:m="http://schemas.openxmlformats.org/officeDocument/2006/math">
                    <m:r>
                      <m:t>5</m:t>
                    </m:r>
                    <m:r>
                      <m:rPr>
                        <m:sty m:val="p"/>
                      </m:rPr>
                      <m:t>⋅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</m:sup>
                    </m:sSup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Набор параметров</a:t>
            </a:r>
          </a:p>
        </p:txBody>
      </p:sp>
      <p:pic>
        <p:nvPicPr>
          <p:cNvPr descr="image/20260404T190003--lambda-parameter-sweep__lab02_julia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 3: Зависимость вероятности перегрузки от интенсивности потока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Результаты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Полученные результаты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Модель реализована, результаты сохраняются на диск средствами DrWatson.</a:t>
                </a:r>
              </a:p>
              <a:p>
                <a:pPr lvl="0"/>
                <a:r>
                  <a:rPr/>
                  <a:t>Число атак согласуется с законом Пуассона, интервалы — с показательным законом (гистограммы и QQ-график).</a:t>
                </a:r>
              </a:p>
              <a:p>
                <a:pPr lvl="0"/>
                <a:r>
                  <a:rPr/>
                  <a:t>Вероятность перегрузки оценена двумя способами; расхождение укладывается в случайный разброс.</a:t>
                </a:r>
              </a:p>
              <a:p>
                <a:pPr lvl="0"/>
                <a:r>
                  <a:rPr/>
                  <a:t>Подтверждён закон больших чисел: с ростом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оценка стабилизируется.</a:t>
                </a:r>
              </a:p>
              <a:p>
                <a:pPr lvl="0"/>
                <a:r>
                  <a:rPr/>
                  <a:t>Код преобразован в литературный стиль.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Главный 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При удвоении интенсивности с 5 до 10 атак/час вероятность перегрузки растёт примерно в 30 раз.</a:t>
            </a:r>
          </a:p>
          <a:p>
            <a:pPr lvl="0"/>
            <a:r>
              <a:rPr/>
              <a:t>Зависимость резко нелинейна: запас по производительности, рассчитанный на среднюю нагрузку, перестаёт работать при небольшом росте интенсивности.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Итоговый 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Цель работы достигнута: методы вероятностного моделирования освоены на практической задаче.</a:t>
            </a:r>
          </a:p>
          <a:p>
            <a:pPr lvl="0"/>
            <a:r>
              <a:rPr/>
              <a:t>Модель корректно описывает случайный поток событий.</a:t>
            </a:r>
          </a:p>
          <a:p>
            <a:pPr lvl="0"/>
            <a:r>
              <a:rPr/>
              <a:t>Результат применим для обоснования порогов систем обнаружения атак.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Bezanson J. и др. </a:t>
            </a:r>
            <a:r>
              <a:rPr>
                <a:hlinkClick r:id="rId2"/>
              </a:rPr>
              <a:t>Julia: A Fresh Approach to Numerical Computing</a:t>
            </a:r>
            <a:r>
              <a:rPr/>
              <a:t> // SIAM Review. 2017. Т. 59, № 1. С. 65–98.</a:t>
            </a:r>
          </a:p>
          <a:p>
            <a:pPr lvl="0" indent="0" marL="0">
              <a:buNone/>
            </a:pPr>
            <a:r>
              <a:rPr/>
              <a:t>2. Datseris G. и др. </a:t>
            </a:r>
            <a:r>
              <a:rPr>
                <a:hlinkClick r:id="rId3"/>
              </a:rPr>
              <a:t>DrWatson: the perfect sidekick for your scientific inquiries</a:t>
            </a:r>
            <a:r>
              <a:rPr/>
              <a:t> // Journal of Open Source Software. 2020. Т. 5, № 54. С. 2673.</a:t>
            </a:r>
          </a:p>
          <a:p>
            <a:pPr lvl="0" indent="0" marL="0">
              <a:buNone/>
            </a:pPr>
            <a:r>
              <a:rPr/>
              <a:t>3. Kingman J. F. C. Poisson Processes. Oxford: Oxford University Press, 1993. 104 с.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вероятностного моделирования угроз</dc:title>
  <dc:creator>Бердыев Эзиз</dc:creator>
  <cp:keywords/>
  <dcterms:created xsi:type="dcterms:W3CDTF">2026-09-04T17:54:06Z</dcterms:created>
  <dcterms:modified xsi:type="dcterms:W3CDTF">2026-09-04T17:54:06Z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/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rossref">
    <vt:lpwstr/>
  </property>
  <property fmtid="{D5CDD505-2E9C-101B-9397-08002B2CF9AE}" pid="9" name="csl">
    <vt:lpwstr>_resources/csl/gost-r-7-0-5-2008-numeric.csl</vt:lpwstr>
  </property>
  <property fmtid="{D5CDD505-2E9C-101B-9397-08002B2CF9AE}" pid="10" name="date">
    <vt:lpwstr>2026-09-04</vt:lpwstr>
  </property>
  <property fmtid="{D5CDD505-2E9C-101B-9397-08002B2CF9AE}" pid="11" name="date-format">
    <vt:lpwstr>YYYY-MM-DD</vt:lpwstr>
  </property>
  <property fmtid="{D5CDD505-2E9C-101B-9397-08002B2CF9AE}" pid="12" name="header-includes">
    <vt:lpwstr/>
  </property>
  <property fmtid="{D5CDD505-2E9C-101B-9397-08002B2CF9AE}" pid="13" name="include-after">
    <vt:lpwstr/>
  </property>
  <property fmtid="{D5CDD505-2E9C-101B-9397-08002B2CF9AE}" pid="14" name="include-before">
    <vt:lpwstr/>
  </property>
  <property fmtid="{D5CDD505-2E9C-101B-9397-08002B2CF9AE}" pid="15" name="labels">
    <vt:lpwstr/>
  </property>
  <property fmtid="{D5CDD505-2E9C-101B-9397-08002B2CF9AE}" pid="16" name="license">
    <vt:lpwstr/>
  </property>
  <property fmtid="{D5CDD505-2E9C-101B-9397-08002B2CF9AE}" pid="17" name="subtitle">
    <vt:lpwstr>Лабораторная работа № 2</vt:lpwstr>
  </property>
  <property fmtid="{D5CDD505-2E9C-101B-9397-08002B2CF9AE}" pid="18" name="toc-title">
    <vt:lpwstr>Содержание</vt:lpwstr>
  </property>
</Properties>
</file>