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1032255390@rudn.ru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17/CBO9780511973031" TargetMode="External" /><Relationship Id="rId3" Type="http://schemas.openxmlformats.org/officeDocument/2006/relationships/hyperlink" Target="https://doi.org/10.2307/1969529" TargetMode="External" /><Relationship Id="rId4" Type="http://schemas.openxmlformats.org/officeDocument/2006/relationships/hyperlink" Target="https://doi.org/10.1137/141000671" TargetMode="External" /><Relationship Id="rId5" Type="http://schemas.openxmlformats.org/officeDocument/2006/relationships/hyperlink" Target="https://doi.org/10.21105/joss.02673" TargetMode="External" /><Relationship Id="rId6" Type="http://schemas.openxmlformats.org/officeDocument/2006/relationships/hyperlink" Target="https://quarto.org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Моделирование конфликта «Защитник–Нападающий»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 4. Преподаватель: Кулябов Дмитрий Сергеевич, д.ф.-м.н., профессор кафедры теории вероятностей и кибербезопасности</a:t>
            </a:r>
            <a:br/>
            <a:br/>
            <a:r>
              <a:rPr/>
              <a:t>Бердыев Эзиз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Бердыев Эзиз</a:t>
            </a:r>
          </a:p>
          <a:p>
            <a:pPr lvl="0"/>
            <a:r>
              <a:rPr/>
              <a:t>студент группы НФИмд-01-25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1032255390@rudn.ru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Преподаватель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Кулябов Дмитрий Сергеевич</a:t>
            </a:r>
          </a:p>
          <a:p>
            <a:pPr lvl="0"/>
            <a:r>
              <a:rPr/>
              <a:t>доктор физико-математических наук, профессор</a:t>
            </a:r>
          </a:p>
          <a:p>
            <a:pPr lvl="0"/>
            <a:r>
              <a:rPr/>
              <a:t>профессор кафедры теории вероятностей и кибербезопасности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Вводная часть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Защитник всегда ограничен в ресурсах: защитить всё одинаково сильно нельзя.</a:t>
            </a:r>
          </a:p>
          <a:p>
            <a:pPr lvl="0"/>
            <a:r>
              <a:rPr/>
              <a:t>Нападающий выбирает цель, наблюдая за защитой.</a:t>
            </a:r>
          </a:p>
          <a:p>
            <a:pPr lvl="0"/>
            <a:r>
              <a:rPr/>
              <a:t>Теория игр отвечает на вопрос: </a:t>
            </a:r>
            <a:r>
              <a:rPr b="1"/>
              <a:t>как распределить защиту против рационального противника</a:t>
            </a:r>
            <a:r>
              <a:rPr/>
              <a:t> [1].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Объект, предмет, новизна, значимость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Объект</a:t>
                </a:r>
                <a:r>
                  <a:rPr/>
                  <a:t> — противостояние защитника и нападающего в ИБ.</a:t>
                </a:r>
              </a:p>
              <a:p>
                <a:pPr lvl="0"/>
                <a:r>
                  <a:rPr b="1"/>
                  <a:t>Предмет</a:t>
                </a:r>
                <a:r>
                  <a:rPr/>
                  <a:t> — матричная игра «Защитник–Нападающий» и её равновесие Нэша.</a:t>
                </a:r>
              </a:p>
              <a:p>
                <a:pPr lvl="0"/>
                <a:r>
                  <a:rPr b="1"/>
                  <a:t>Новизна</a:t>
                </a:r>
                <a:r>
                  <a:rPr/>
                  <a:t> — получено явное решение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+</m:t>
                        </m:r>
                        <m:sSub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+</m:t>
                        </m:r>
                        <m:sSub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и показано, что затраты не влияют на стратегии.</a:t>
                </a:r>
              </a:p>
              <a:p>
                <a:pPr lvl="0"/>
                <a:r>
                  <a:rPr b="1"/>
                  <a:t>Практическая значимость</a:t>
                </a:r>
                <a:r>
                  <a:rPr/>
                  <a:t> — обоснование рандомизации защиты.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Цель</a:t>
            </a:r>
            <a:r>
              <a:rPr/>
              <a:t> — применить теорию игр к анализу конфликта в ИБ, найти равновесие Нэша в чистых и смешанных стратегиях.</a:t>
            </a:r>
          </a:p>
          <a:p>
            <a:pPr lvl="0" indent="0" marL="0">
              <a:buNone/>
            </a:pPr>
            <a:r>
              <a:rPr b="1"/>
              <a:t>Гипотеза</a:t>
            </a:r>
            <a:r>
              <a:rPr/>
              <a:t> — рациональной защите выгодно быть непредсказуемой.</a:t>
            </a:r>
          </a:p>
          <a:p>
            <a:pPr lvl="0" indent="0" marL="0">
              <a:buNone/>
            </a:pPr>
            <a:r>
              <a:rPr b="1"/>
              <a:t>Задачи:</a:t>
            </a:r>
          </a:p>
          <a:p>
            <a:pPr lvl="0"/>
            <a:r>
              <a:rPr/>
              <a:t>формализовать конфликт как антагонистическую игру;</a:t>
            </a:r>
          </a:p>
          <a:p>
            <a:pPr lvl="0"/>
            <a:r>
              <a:rPr/>
              <a:t>реализовать на Julia расчёт матриц и равновесия;</a:t>
            </a:r>
          </a:p>
          <a:p>
            <a:pPr lvl="0"/>
            <a:r>
              <a:rPr/>
              <a:t>рассчитать игру для набора параметров и визуализировать результаты;</a:t>
            </a:r>
          </a:p>
          <a:p>
            <a:pPr lvl="0"/>
            <a:r>
              <a:rPr/>
              <a:t>перевести код в литературный стиль.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Материалы и методы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Теория игр, равновесие Нэша [2,3].</a:t>
            </a:r>
          </a:p>
          <a:p>
            <a:pPr lvl="0"/>
            <a:r>
              <a:rPr/>
              <a:t>Язык Julia [4], DrWatson [5].</a:t>
            </a:r>
          </a:p>
          <a:p>
            <a:pPr lvl="0"/>
            <a:r>
              <a:rPr/>
              <a:t>DataFrames, CSV, Plots — расчёты и графики.</a:t>
            </a:r>
          </a:p>
          <a:p>
            <a:pPr lvl="0"/>
            <a:r>
              <a:rPr/>
              <a:t>Literate.jl, Quarto [6] — литературный код, отчёт, презентация.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Содержание исследования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Два актива с ценностями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a</m:t>
                        </m:r>
                      </m:sub>
                    </m:sSub>
                  </m:oMath>
                </a14:m>
                <a:r>
                  <a:rPr/>
                  <a:t> — стоимость атаки,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d</m:t>
                        </m:r>
                      </m:sub>
                    </m:sSub>
                  </m:oMath>
                </a14:m>
                <a:r>
                  <a:rPr/>
                  <a:t> — защиты.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V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≠</m:t>
                                </m:r>
                                <m:r>
                                  <m:t>j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j</m:t>
                                </m:r>
                              </m:e>
                            </m:mr>
                          </m:m>
                        </m:e>
                      </m:d>
                      <m:r>
                        <m:t>  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b>
                                  <m:e>
                                    <m:r>
                                      <m:t>V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d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≠</m:t>
                                </m:r>
                                <m:r>
                                  <m:t>j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d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j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Строка — какой актив атакуют, столбец — какой защищают.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Поиск равновесия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Проверка чистых равновесий: перебор 4 клеток.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Если чистого нет — условие безразличия: каждый игрок рандомизирует так, чтобы противнику было всё равно, что выбрать.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Sup>
                        <m:e>
                          <m:r>
                            <m:t>p</m:t>
                          </m:r>
                        </m:e>
                        <m:sub>
                          <m: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эксперимент: V = (10, 5), c = 1</a:t>
            </a:r>
          </a:p>
        </p:txBody>
      </p:sp>
      <p:pic>
        <p:nvPicPr>
          <p:cNvPr descr="image/20261008T230625--base-model-results__lab04_termin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1: Результат расчёта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 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e>
                    </m:d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q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2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 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e>
                    </m:d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2.33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4.33</m:t>
                    </m:r>
                  </m:oMath>
                </a14:m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Ценный актив атакуют реже</a:t>
            </a:r>
          </a:p>
        </p:txBody>
      </p:sp>
      <p:pic>
        <p:nvPicPr>
          <p:cNvPr descr="image/20261008T230001--attack-probability-vs-value-ratio__lab04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/>
            </p:nvSpPr>
            <p:spPr>
              <a:xfrm>
                <a:off x="457200" y="4076700"/>
                <a:ext cx="82296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Рис. 2: Вероятность атаки на актив 1 от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Защитник охраняет ценный актив чаще — Нападающий бьёт туда, где слабее.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Выигрыш Нападающего</a:t>
            </a:r>
          </a:p>
        </p:txBody>
      </p:sp>
      <p:pic>
        <p:nvPicPr>
          <p:cNvPr descr="image/20261008T230002--attacker-payoff-heatmap__lab04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3: Средний выигрыш Нападающего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Максимум </a:t>
                </a:r>
                <a14:m>
                  <m:oMath xmlns:m="http://schemas.openxmlformats.org/officeDocument/2006/math">
                    <m:r>
                      <m:t>6.5</m:t>
                    </m:r>
                  </m:oMath>
                </a14:m>
                <a:r>
                  <a:rPr/>
                  <a:t> при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15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Стоимость защиты</a:t>
            </a:r>
          </a:p>
        </p:txBody>
      </p:sp>
      <p:pic>
        <p:nvPicPr>
          <p:cNvPr descr="image/20261008T230003--defender-payoff-vs-defense-cost__lab04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/>
            </p:nvSpPr>
            <p:spPr>
              <a:xfrm>
                <a:off x="457200" y="4076700"/>
                <a:ext cx="82296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Рис. 4: Выигрыш Защитника от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d</m:t>
                        </m:r>
                      </m:sub>
                    </m:sSub>
                  </m:oMath>
                </a14:m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d</m:t>
                        </m:r>
                      </m:sub>
                    </m:sSub>
                  </m:oMath>
                </a14:m>
                <a:r>
                  <a:rPr/>
                  <a:t> сдвигает выигрыш, но </a:t>
                </a:r>
                <a:r>
                  <a:rPr b="1"/>
                  <a:t>не меняет стратегию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Анализ и практическая значимость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Все 81 вариант дали </a:t>
            </a:r>
            <a:r>
              <a:rPr b="1"/>
              <a:t>смешанное</a:t>
            </a:r>
            <a:r>
              <a:rPr/>
              <a:t> равновесие: модель устроена как «орлянка» — чистой стратегии нет.</a:t>
            </a:r>
          </a:p>
          <a:p>
            <a:pPr lvl="0"/>
            <a:r>
              <a:rPr/>
              <a:t>Непредсказуемость защиты — оптимальна: ротация honeypot, случайные проверки, moving target defense.</a:t>
            </a:r>
          </a:p>
          <a:p>
            <a:pPr lvl="0"/>
            <a:r>
              <a:rPr/>
              <a:t>Выигрыш Защитника всегда отрицателен: безопасность требует затрат.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Конфликт формализован как биматричная игра, равновесие найдено численно и совпало с аналитическим решением.</a:t>
            </a:r>
          </a:p>
          <a:p>
            <a:pPr lvl="0"/>
            <a:r>
              <a:rPr/>
              <a:t>Гипотеза подтверждена: рациональной защите выгодно рандомизировать.</a:t>
            </a:r>
          </a:p>
          <a:p>
            <a:pPr lvl="0"/>
            <a:r>
              <a:rPr/>
              <a:t>Код переведён в литературный стиль, сгенерированы чистый код, блокноты и документация Quarto.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Tambe M. </a:t>
            </a:r>
            <a:r>
              <a:rPr>
                <a:hlinkClick r:id="rId2"/>
              </a:rPr>
              <a:t>Security and Game Theory: Algorithms, Deployed Systems, Lessons Learned</a:t>
            </a:r>
            <a:r>
              <a:rPr/>
              <a:t>. Cambridge: Cambridge University Press, 2011.</a:t>
            </a:r>
          </a:p>
          <a:p>
            <a:pPr lvl="0" indent="0" marL="0">
              <a:buNone/>
            </a:pPr>
            <a:r>
              <a:rPr/>
              <a:t>2. Nash J. </a:t>
            </a:r>
            <a:r>
              <a:rPr>
                <a:hlinkClick r:id="rId3"/>
              </a:rPr>
              <a:t>Non-Cooperative Games</a:t>
            </a:r>
            <a:r>
              <a:rPr/>
              <a:t> // Annals of Mathematics. 1951. Т. 54, № 2. С. 286–295.</a:t>
            </a:r>
          </a:p>
          <a:p>
            <a:pPr lvl="0" indent="0" marL="0">
              <a:buNone/>
            </a:pPr>
            <a:r>
              <a:rPr/>
              <a:t>3. Neumann J. von, Morgenstern O. Theory of Games and Economic Behavior. Princeton: Princeton University Press, 1944.</a:t>
            </a:r>
          </a:p>
          <a:p>
            <a:pPr lvl="0" indent="0" marL="0">
              <a:buNone/>
            </a:pPr>
            <a:r>
              <a:rPr/>
              <a:t>4. Bezanson J. и др. </a:t>
            </a:r>
            <a:r>
              <a:rPr>
                <a:hlinkClick r:id="rId4"/>
              </a:rPr>
              <a:t>Julia: A Fresh Approach to Numerical Computing</a:t>
            </a:r>
            <a:r>
              <a:rPr/>
              <a:t> // SIAM Review. 2017. Т. 59, № 1. С. 65–98.</a:t>
            </a:r>
          </a:p>
          <a:p>
            <a:pPr lvl="0" indent="0" marL="0">
              <a:buNone/>
            </a:pPr>
            <a:r>
              <a:rPr/>
              <a:t>5. Datseris G. и др. </a:t>
            </a:r>
            <a:r>
              <a:rPr>
                <a:hlinkClick r:id="rId5"/>
              </a:rPr>
              <a:t>DrWatson: the perfect sidekick for your scientific inquiries</a:t>
            </a:r>
            <a:r>
              <a:rPr/>
              <a:t> // Journal of Open Source Software. 2020. Т. 5, № 54. С. 2673.</a:t>
            </a:r>
          </a:p>
          <a:p>
            <a:pPr lvl="0" indent="0" marL="0">
              <a:buNone/>
            </a:pPr>
            <a:r>
              <a:rPr/>
              <a:t>6. Posit PBC. </a:t>
            </a:r>
            <a:r>
              <a:rPr>
                <a:hlinkClick r:id="rId6"/>
              </a:rPr>
              <a:t>Quarto: An Open-Source Scientific and Technical Publishing System</a:t>
            </a:r>
            <a:r>
              <a:rPr/>
              <a:t>. 2026.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конфликта «Защитник–Нападающий»</dc:title>
  <dc:creator>Бердыев Эзиз</dc:creator>
  <cp:keywords/>
  <dcterms:created xsi:type="dcterms:W3CDTF">2026-10-08T18:23:32Z</dcterms:created>
  <dcterms:modified xsi:type="dcterms:W3CDTF">2026-10-08T18:23:32Z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_resources/csl/gost-r-7-0-5-2008-numeric.csl</vt:lpwstr>
  </property>
  <property fmtid="{D5CDD505-2E9C-101B-9397-08002B2CF9AE}" pid="10" name="date">
    <vt:lpwstr>2026-10-08</vt:lpwstr>
  </property>
  <property fmtid="{D5CDD505-2E9C-101B-9397-08002B2CF9AE}" pid="11" name="date-format">
    <vt:lpwstr>YYYY-MM-DD</vt:lpwstr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institute">
    <vt:lpwstr>Российский университет дружбы народов им. П. Лумумбы</vt:lpwstr>
  </property>
  <property fmtid="{D5CDD505-2E9C-101B-9397-08002B2CF9AE}" pid="16" name="institutes">
    <vt:lpwstr/>
  </property>
  <property fmtid="{D5CDD505-2E9C-101B-9397-08002B2CF9AE}" pid="17" name="labels">
    <vt:lpwstr/>
  </property>
  <property fmtid="{D5CDD505-2E9C-101B-9397-08002B2CF9AE}" pid="18" name="license">
    <vt:lpwstr/>
  </property>
  <property fmtid="{D5CDD505-2E9C-101B-9397-08002B2CF9AE}" pid="19" name="subtitle">
    <vt:lpwstr>Лабораторная работа № 4. Преподаватель: Кулябов Дмитрий Сергеевич, д.ф.-м.н., профессор кафедры теории вероятностей и кибербезопасности</vt:lpwstr>
  </property>
  <property fmtid="{D5CDD505-2E9C-101B-9397-08002B2CF9AE}" pid="20" name="toc-title">
    <vt:lpwstr>Содержание</vt:lpwstr>
  </property>
</Properties>
</file>