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1032255390@rudn.ru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137/141000671" TargetMode="External" /><Relationship Id="rId3" Type="http://schemas.openxmlformats.org/officeDocument/2006/relationships/hyperlink" Target="https://doi.org/10.5334/jors.151" TargetMode="External" /><Relationship Id="rId4" Type="http://schemas.openxmlformats.org/officeDocument/2006/relationships/hyperlink" Target="https://doi.org/10.21105/joss.02673" TargetMode="External" /><Relationship Id="rId5" Type="http://schemas.openxmlformats.org/officeDocument/2006/relationships/hyperlink" Target="https://quarto.org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Подготовка стенда. Модель экспоненциального роста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 1</a:t>
            </a:r>
            <a:br/>
            <a:br/>
            <a:r>
              <a:rPr/>
              <a:t>Бердыев Эзиз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2026-09-04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Бердыев Эзиз</a:t>
            </a:r>
          </a:p>
          <a:p>
            <a:pPr lvl="0"/>
            <a:r>
              <a:rPr/>
              <a:t>студент группы НФИмд-01-25</a:t>
            </a:r>
          </a:p>
          <a:p>
            <a:pPr lvl="0"/>
            <a:r>
              <a:rPr/>
              <a:t>Российский университет дружбы народов им. П. Лумумбы</a:t>
            </a:r>
          </a:p>
          <a:p>
            <a:pPr lvl="0"/>
            <a:r>
              <a:rPr>
                <a:hlinkClick r:id="rId2"/>
              </a:rPr>
              <a:t>1032255390@rudn.ru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Вводная часть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Актуальность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Скорость развития инцидента информационной безопасности определяет, сколько времени есть у службы реагирования.</a:t>
            </a:r>
          </a:p>
          <a:p>
            <a:pPr lvl="0"/>
            <a:r>
              <a:rPr/>
              <a:t>На ранней стадии распространение вредоносного ПО в сети с большим числом уязвимых узлов растёт практически экспоненциально.</a:t>
            </a:r>
          </a:p>
          <a:p>
            <a:pPr lvl="0"/>
            <a:r>
              <a:rPr/>
              <a:t>Простейшая модель роста даёт верхнюю оценку скорости инцидента и служит эталоном для проверки вычислительного стенда.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Объект и предмет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Объект</a:t>
            </a:r>
            <a:r>
              <a:rPr/>
              <a:t> — процессы, скорость изменения которых пропорциональна текущему значению величины.</a:t>
            </a:r>
          </a:p>
          <a:p>
            <a:pPr lvl="0"/>
            <a:r>
              <a:rPr b="1"/>
              <a:t>Предмет</a:t>
            </a:r>
            <a:r>
              <a:rPr/>
              <a:t> — численная и аналитическая модель экспоненциального роста, а также инструментальная среда её воспроизводимой реализации.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Цели и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Цель</a:t>
            </a:r>
            <a:r>
              <a:rPr/>
              <a:t> — подготовить рабочий стенд курса и выполнить на нём полный цикл вычислительного эксперимента.</a:t>
            </a:r>
          </a:p>
          <a:p>
            <a:pPr lvl="0" indent="0" marL="0">
              <a:buNone/>
            </a:pPr>
            <a:r>
              <a:rPr b="1"/>
              <a:t>Задачи:</a:t>
            </a:r>
          </a:p>
          <a:p>
            <a:pPr lvl="0"/>
            <a:r>
              <a:rPr/>
              <a:t>развернуть рабочее пространство: git, Denote, DrWatson, Quarto;</a:t>
            </a:r>
          </a:p>
          <a:p>
            <a:pPr lvl="0"/>
            <a:r>
              <a:rPr/>
              <a:t>реализовать численное решение уравнения роста на языке Julia;</a:t>
            </a:r>
          </a:p>
          <a:p>
            <a:pPr lvl="0"/>
            <a:r>
              <a:rPr/>
              <a:t>получить аналитическое решение и сравнить его с численным;</a:t>
            </a:r>
          </a:p>
          <a:p>
            <a:pPr lvl="0"/>
            <a:r>
              <a:rPr/>
              <a:t>преобразовать код в литературный стиль;</a:t>
            </a:r>
          </a:p>
          <a:p>
            <a:pPr lvl="0"/>
            <a:r>
              <a:rPr/>
              <a:t>подготовить отчёт и презентацию во всех требуемых форматах.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Материалы и методы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Язык Julia [1];</a:t>
            </a:r>
          </a:p>
          <a:p>
            <a:pPr lvl="0"/>
            <a:r>
              <a:rPr/>
              <a:t>DifferentialEquations.jl, метод </a:t>
            </a:r>
            <a:r>
              <a:rPr>
                <a:latin typeface="Courier"/>
              </a:rPr>
              <a:t>Tsit5()</a:t>
            </a:r>
            <a:r>
              <a:rPr/>
              <a:t> [2];</a:t>
            </a:r>
          </a:p>
          <a:p>
            <a:pPr lvl="0"/>
            <a:r>
              <a:rPr/>
              <a:t>DrWatson — структура научного проекта [3];</a:t>
            </a:r>
          </a:p>
          <a:p>
            <a:pPr lvl="0"/>
            <a:r>
              <a:rPr/>
              <a:t>Literate.jl — литературное программирование;</a:t>
            </a:r>
          </a:p>
          <a:p>
            <a:pPr lvl="0"/>
            <a:r>
              <a:rPr/>
              <a:t>Quarto — сборка отчёта и презентации [4].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Основная часть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Математическая модель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Модель описывается уравнением первого порядка: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  <m:r>
                            <m:t>u</m:t>
                          </m:r>
                        </m:num>
                        <m:den>
                          <m:r>
                            <m:t>d</m:t>
                          </m:r>
                          <m: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α</m:t>
                      </m:r>
                      <m:r>
                        <m:t>u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u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0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u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Точное решение: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u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u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t>α</m:t>
                          </m:r>
                          <m:r>
                            <m:t>t</m:t>
                          </m:r>
                        </m:sup>
                      </m:sSup>
                      <m:r>
                        <m:rPr>
                          <m:sty m:val="p"/>
                        </m:rPr>
                        <m:t>.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Знак </a:t>
                </a:r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  <a:r>
                  <a:rPr/>
                  <a:t> определяет поведение системы: рост, стационарность или затухание.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Время удвоения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ln</m:t>
                          </m:r>
                          <m:r>
                            <m:t>2</m:t>
                          </m:r>
                        </m:num>
                        <m:den>
                          <m:r>
                            <m:t>α</m:t>
                          </m:r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не зависит от начального значения </a:t>
                </a:r>
                <a14:m>
                  <m:oMath xmlns:m="http://schemas.openxmlformats.org/officeDocument/2006/math">
                    <m:sSub>
                      <m:e>
                        <m:r>
                          <m:t>u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;</a:t>
                </a:r>
              </a:p>
              <a:p>
                <a:pPr lvl="0"/>
                <a:r>
                  <a:rPr/>
                  <a:t>удобно как практическая метрика скорости инцидента;</a:t>
                </a:r>
              </a:p>
              <a:p>
                <a:pPr lvl="0"/>
                <a:r>
                  <a:rPr/>
                  <a:t>при </a:t>
                </a:r>
                <a14:m>
                  <m:oMath xmlns:m="http://schemas.openxmlformats.org/officeDocument/2006/math">
                    <m:r>
                      <m:t>α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0.3</m:t>
                    </m:r>
                  </m:oMath>
                </a14:m>
                <a:r>
                  <a:rPr/>
                  <a:t> составляет </a:t>
                </a:r>
                <a14:m>
                  <m:oMath xmlns:m="http://schemas.openxmlformats.org/officeDocument/2006/math">
                    <m:sSub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2.31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Реализация правой части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exponential_growth!</a:t>
            </a:r>
            <a:r>
              <a:rPr>
                <a:latin typeface="Courier"/>
              </a:rPr>
              <a:t>(du, u, p, t)</a:t>
            </a:r>
            <a:br/>
            <a:r>
              <a:rPr>
                <a:latin typeface="Courier"/>
              </a:rPr>
              <a:t>    α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коэффициент роста</a:t>
            </a:r>
            <a:br/>
            <a:r>
              <a:rPr>
                <a:latin typeface="Courier"/>
              </a:rPr>
              <a:t>    du[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α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u[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  </a:t>
            </a:r>
            <a:r>
              <a:rPr i="1">
                <a:solidFill>
                  <a:srgbClr val="60A0B0"/>
                </a:solidFill>
                <a:latin typeface="Courier"/>
              </a:rPr>
              <a:t># du/dt = αu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</a:p>
          <a:p>
            <a:pPr lvl="0" indent="0" marL="0">
              <a:buNone/>
            </a:pPr>
            <a:r>
              <a:rPr/>
              <a:t>In-place форма не создаёт новых массивов и не нагружает сборщик мусора — это рекомендуемая форма для DifferentialEquations.jl.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Постановка и решение задачи Коши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u0   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α    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0.3</a:t>
            </a:r>
            <a:br/>
            <a:r>
              <a:rPr>
                <a:latin typeface="Courier"/>
              </a:rPr>
              <a:t>tspan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40A070"/>
                </a:solidFill>
                <a:latin typeface="Courier"/>
              </a:rPr>
              <a:t>0.0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10.0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prob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ODEProblem</a:t>
            </a:r>
            <a:r>
              <a:rPr>
                <a:latin typeface="Courier"/>
              </a:rPr>
              <a:t>(exponential_growth!, u0, tspan, α)</a:t>
            </a:r>
            <a:br/>
            <a:r>
              <a:rPr>
                <a:latin typeface="Courier"/>
              </a:rPr>
              <a:t>sol 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solve</a:t>
            </a:r>
            <a:r>
              <a:rPr>
                <a:latin typeface="Courier"/>
              </a:rPr>
              <a:t>(prob, </a:t>
            </a:r>
            <a:r>
              <a:rPr>
                <a:solidFill>
                  <a:srgbClr val="06287E"/>
                </a:solidFill>
                <a:latin typeface="Courier"/>
              </a:rPr>
              <a:t>Tsit5</a:t>
            </a:r>
            <a:r>
              <a:rPr>
                <a:latin typeface="Courier"/>
              </a:rPr>
              <a:t>(), saveat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Tsit5()</a:t>
            </a:r>
            <a:r>
              <a:rPr/>
              <a:t> — явный метод Рунге—Кутты 5(4) порядка с адаптивным шагом.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Результат: сравнение решений</a:t>
            </a:r>
          </a:p>
        </p:txBody>
      </p:sp>
      <p:pic>
        <p:nvPicPr>
          <p:cNvPr descr="image/20260502T022301--exponential-growth-numeric-vs-analytic__lab01_julia_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" name="TextBox 3"/>
              <p:cNvSpPr txBox="1"/>
              <p:nvPr/>
            </p:nvSpPr>
            <p:spPr>
              <a:xfrm>
                <a:off x="457200" y="4076700"/>
                <a:ext cx="8229600" cy="50800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 lvl="0" indent="0" marL="0" algn="ctr">
                  <a:buNone/>
                </a:pPr>
                <a:r>
                  <a:rPr/>
                  <a:t>Рис. 1: Численное и аналитическое решения при </a:t>
                </a:r>
                <a14:m>
                  <m:oMath xmlns:m="http://schemas.openxmlformats.org/officeDocument/2006/math">
                    <m:r>
                      <m:t>α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0.3</m:t>
                    </m:r>
                  </m:oMath>
                </a14:m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Максимальная относительная погрешность — </a:t>
                </a:r>
                <a14:m>
                  <m:oMath xmlns:m="http://schemas.openxmlformats.org/officeDocument/2006/math">
                    <m:r>
                      <m:t>1.17</m:t>
                    </m:r>
                    <m:r>
                      <m:rPr>
                        <m:sty m:val="p"/>
                      </m:rPr>
                      <m:t>⋅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5</m:t>
                        </m:r>
                      </m:sup>
                    </m:sSup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Результат: набор параметров</a:t>
            </a:r>
          </a:p>
        </p:txBody>
      </p:sp>
      <p:pic>
        <p:nvPicPr>
          <p:cNvPr descr="image/20260502T022303--exponential-growth-parameter-sweep__lab01_julia_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Рис. 2: Влияние коэффициента роста на динамику системы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Рост </a:t>
                </a:r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  <a:r>
                  <a:rPr/>
                  <a:t> в 10 раз увеличивает </a:t>
                </a:r>
                <a14:m>
                  <m:oMath xmlns:m="http://schemas.openxmlformats.org/officeDocument/2006/math">
                    <m:r>
                      <m:t>u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10</m:t>
                        </m:r>
                      </m:e>
                    </m:d>
                  </m:oMath>
                </a14:m>
                <a:r>
                  <a:rPr/>
                  <a:t> более чем в 8000 раз.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Литературное программирование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Из одного литературного исходника получены три артефакта:</a:t>
            </a:r>
          </a:p>
          <a:p>
            <a:pPr lvl="0" indent="0">
              <a:buNone/>
            </a:pPr>
            <a:r>
              <a:rPr>
                <a:latin typeface="Courier"/>
              </a:rPr>
              <a:t>Literate.</a:t>
            </a:r>
            <a:r>
              <a:rPr>
                <a:solidFill>
                  <a:srgbClr val="06287E"/>
                </a:solidFill>
                <a:latin typeface="Courier"/>
              </a:rPr>
              <a:t>script</a:t>
            </a:r>
            <a:r>
              <a:rPr>
                <a:latin typeface="Courier"/>
              </a:rPr>
              <a:t>(src,   </a:t>
            </a:r>
            <a:r>
              <a:rPr>
                <a:solidFill>
                  <a:srgbClr val="06287E"/>
                </a:solidFill>
                <a:latin typeface="Courier"/>
              </a:rPr>
              <a:t>projectdir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"scripts"</a:t>
            </a:r>
            <a:r>
              <a:rPr>
                <a:latin typeface="Courier"/>
              </a:rPr>
              <a:t>))   </a:t>
            </a:r>
            <a:r>
              <a:rPr i="1">
                <a:solidFill>
                  <a:srgbClr val="60A0B0"/>
                </a:solidFill>
                <a:latin typeface="Courier"/>
              </a:rPr>
              <a:t># чистый код</a:t>
            </a:r>
            <a:br/>
            <a:r>
              <a:rPr>
                <a:latin typeface="Courier"/>
              </a:rPr>
              <a:t>Literate.</a:t>
            </a:r>
            <a:r>
              <a:rPr>
                <a:solidFill>
                  <a:srgbClr val="06287E"/>
                </a:solidFill>
                <a:latin typeface="Courier"/>
              </a:rPr>
              <a:t>notebook</a:t>
            </a:r>
            <a:r>
              <a:rPr>
                <a:latin typeface="Courier"/>
              </a:rPr>
              <a:t>(src, </a:t>
            </a:r>
            <a:r>
              <a:rPr>
                <a:solidFill>
                  <a:srgbClr val="06287E"/>
                </a:solidFill>
                <a:latin typeface="Courier"/>
              </a:rPr>
              <a:t>projectdir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"notebooks"</a:t>
            </a:r>
            <a:r>
              <a:rPr>
                <a:latin typeface="Courier"/>
              </a:rPr>
              <a:t>)) </a:t>
            </a:r>
            <a:r>
              <a:rPr i="1">
                <a:solidFill>
                  <a:srgbClr val="60A0B0"/>
                </a:solidFill>
                <a:latin typeface="Courier"/>
              </a:rPr>
              <a:t># jupyter notebook</a:t>
            </a:r>
            <a:br/>
            <a:r>
              <a:rPr>
                <a:latin typeface="Courier"/>
              </a:rPr>
              <a:t>Literate.</a:t>
            </a:r>
            <a:r>
              <a:rPr>
                <a:solidFill>
                  <a:srgbClr val="06287E"/>
                </a:solidFill>
                <a:latin typeface="Courier"/>
              </a:rPr>
              <a:t>markdown</a:t>
            </a:r>
            <a:r>
              <a:rPr>
                <a:latin typeface="Courier"/>
              </a:rPr>
              <a:t>(src, </a:t>
            </a:r>
            <a:r>
              <a:rPr>
                <a:solidFill>
                  <a:srgbClr val="06287E"/>
                </a:solidFill>
                <a:latin typeface="Courier"/>
              </a:rPr>
              <a:t>projectdir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"docs"</a:t>
            </a:r>
            <a:r>
              <a:rPr>
                <a:latin typeface="Courier"/>
              </a:rPr>
              <a:t>))      </a:t>
            </a:r>
            <a:r>
              <a:rPr i="1">
                <a:solidFill>
                  <a:srgbClr val="60A0B0"/>
                </a:solidFill>
                <a:latin typeface="Courier"/>
              </a:rPr>
              <a:t># документация</a:t>
            </a:r>
          </a:p>
          <a:p>
            <a:pPr lvl="0" indent="0" marL="0">
              <a:buNone/>
            </a:pPr>
            <a:r>
              <a:rPr/>
              <a:t>Документация первична, код встраивается в изложение.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Результаты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Полученные результаты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Развёрнут стенд: git на двух хостингах, именование Denote, проект DrWatson, сборка Quarto.</a:t>
                </a:r>
              </a:p>
              <a:p>
                <a:pPr lvl="0"/>
                <a:r>
                  <a:rPr/>
                  <a:t>Реализованы численное и аналитическое решения; графики совпадают.</a:t>
                </a:r>
              </a:p>
              <a:p>
                <a:pPr lvl="0"/>
                <a:r>
                  <a:rPr/>
                  <a:t>Вычислено время удвоения </a:t>
                </a:r>
                <a14:m>
                  <m:oMath xmlns:m="http://schemas.openxmlformats.org/officeDocument/2006/math">
                    <m:sSub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2.31</m:t>
                    </m:r>
                  </m:oMath>
                </a14:m>
                <a:r>
                  <a:rPr/>
                  <a:t> при </a:t>
                </a:r>
                <a14:m>
                  <m:oMath xmlns:m="http://schemas.openxmlformats.org/officeDocument/2006/math">
                    <m:r>
                      <m:t>α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0.3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Проведено исследование на наборе значений </a:t>
                </a:r>
                <a14:m>
                  <m:oMath xmlns:m="http://schemas.openxmlformats.org/officeDocument/2006/math">
                    <m:r>
                      <m:t>α</m:t>
                    </m:r>
                  </m:oMath>
                </a14:m>
                <a:r>
                  <a:rPr/>
                  <a:t>.</a:t>
                </a:r>
              </a:p>
              <a:p>
                <a:pPr lvl="0"/>
                <a:r>
                  <a:rPr/>
                  <a:t>Код преобразован в литературный стиль, сгенерированы все артефакты.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Ограничения модели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Модель предполагает неограниченность ресурса.</a:t>
            </a:r>
          </a:p>
          <a:p>
            <a:pPr lvl="0"/>
            <a:r>
              <a:rPr/>
              <a:t>Реальное число уязвимых узлов конечно, поэтому на поздних стадиях экспоненциальная модель завышает оценку.</a:t>
            </a:r>
          </a:p>
          <a:p>
            <a:pPr lvl="0"/>
            <a:r>
              <a:rPr/>
              <a:t>Для полного описания требуется логистическая модель.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Итоговый 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Цель работы достигнута: стенд подготовлен и проверен на эталонной задаче.</a:t>
            </a:r>
          </a:p>
          <a:p>
            <a:pPr lvl="0"/>
            <a:r>
              <a:rPr/>
              <a:t>Совпадение численного и аналитического решений подтверждает корректность настройки инструментов.</a:t>
            </a:r>
          </a:p>
          <a:p>
            <a:pPr lvl="0"/>
            <a:r>
              <a:rPr/>
              <a:t>Полученный стенд используется без изменений в последующих работах курса.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Список литературы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Bezanson J. и др. </a:t>
            </a:r>
            <a:r>
              <a:rPr>
                <a:hlinkClick r:id="rId2"/>
              </a:rPr>
              <a:t>Julia: A Fresh Approach to Numerical Computing</a:t>
            </a:r>
            <a:r>
              <a:rPr/>
              <a:t> // SIAM Review. 2017. Т. 59, № 1. С. 65–98.</a:t>
            </a:r>
          </a:p>
          <a:p>
            <a:pPr lvl="0" indent="0" marL="0">
              <a:buNone/>
            </a:pPr>
            <a:r>
              <a:rPr/>
              <a:t>2. Rackauckas C., Nie Q. </a:t>
            </a:r>
            <a:r>
              <a:rPr>
                <a:hlinkClick r:id="rId3"/>
              </a:rPr>
              <a:t>DifferentialEquations.jl — A Performant and Feature-Rich Ecosystem for Solving Differential Equations in Julia</a:t>
            </a:r>
            <a:r>
              <a:rPr/>
              <a:t> // Journal of Open Research Software. 2017. Т. 5, № 1. С. 15.</a:t>
            </a:r>
          </a:p>
          <a:p>
            <a:pPr lvl="0" indent="0" marL="0">
              <a:buNone/>
            </a:pPr>
            <a:r>
              <a:rPr/>
              <a:t>3. Datseris G. и др. </a:t>
            </a:r>
            <a:r>
              <a:rPr>
                <a:hlinkClick r:id="rId4"/>
              </a:rPr>
              <a:t>DrWatson: the perfect sidekick for your scientific inquiries</a:t>
            </a:r>
            <a:r>
              <a:rPr/>
              <a:t> // Journal of Open Source Software. 2020. Т. 5, № 54. С. 2673.</a:t>
            </a:r>
          </a:p>
          <a:p>
            <a:pPr lvl="0" indent="0" marL="0">
              <a:buNone/>
            </a:pPr>
            <a:r>
              <a:rPr/>
              <a:t>4. Posit PBC. </a:t>
            </a:r>
            <a:r>
              <a:rPr>
                <a:hlinkClick r:id="rId5"/>
              </a:rPr>
              <a:t>Quarto: An Open-Source Scientific and Technical Publishing System</a:t>
            </a:r>
            <a:r>
              <a:rPr/>
              <a:t>. 2026.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Подготовка стенда. Модель экспоненциального роста</dc:title>
  <dc:creator>Бердыев Эзиз</dc:creator>
  <cp:keywords/>
  <dcterms:created xsi:type="dcterms:W3CDTF">2026-09-04T17:51:03Z</dcterms:created>
  <dcterms:modified xsi:type="dcterms:W3CDTF">2026-09-04T17:51:03Z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/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rossref">
    <vt:lpwstr/>
  </property>
  <property fmtid="{D5CDD505-2E9C-101B-9397-08002B2CF9AE}" pid="9" name="csl">
    <vt:lpwstr>_resources/csl/gost-r-7-0-5-2008-numeric.csl</vt:lpwstr>
  </property>
  <property fmtid="{D5CDD505-2E9C-101B-9397-08002B2CF9AE}" pid="10" name="date">
    <vt:lpwstr>2026-09-04</vt:lpwstr>
  </property>
  <property fmtid="{D5CDD505-2E9C-101B-9397-08002B2CF9AE}" pid="11" name="date-format">
    <vt:lpwstr>YYYY-MM-DD</vt:lpwstr>
  </property>
  <property fmtid="{D5CDD505-2E9C-101B-9397-08002B2CF9AE}" pid="12" name="header-includes">
    <vt:lpwstr/>
  </property>
  <property fmtid="{D5CDD505-2E9C-101B-9397-08002B2CF9AE}" pid="13" name="include-after">
    <vt:lpwstr/>
  </property>
  <property fmtid="{D5CDD505-2E9C-101B-9397-08002B2CF9AE}" pid="14" name="include-before">
    <vt:lpwstr/>
  </property>
  <property fmtid="{D5CDD505-2E9C-101B-9397-08002B2CF9AE}" pid="15" name="labels">
    <vt:lpwstr/>
  </property>
  <property fmtid="{D5CDD505-2E9C-101B-9397-08002B2CF9AE}" pid="16" name="license">
    <vt:lpwstr/>
  </property>
  <property fmtid="{D5CDD505-2E9C-101B-9397-08002B2CF9AE}" pid="17" name="subtitle">
    <vt:lpwstr>Лабораторная работа № 1</vt:lpwstr>
  </property>
  <property fmtid="{D5CDD505-2E9C-101B-9397-08002B2CF9AE}" pid="18" name="toc-title">
    <vt:lpwstr>Содержание</vt:lpwstr>
  </property>
</Properties>
</file>