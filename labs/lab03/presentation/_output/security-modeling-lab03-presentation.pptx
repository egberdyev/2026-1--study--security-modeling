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55390@rudn.ru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137/141000671" TargetMode="External" /><Relationship Id="rId3" Type="http://schemas.openxmlformats.org/officeDocument/2006/relationships/hyperlink" Target="https://doi.org/10.1145/310889.310919" TargetMode="External" /><Relationship Id="rId4" Type="http://schemas.openxmlformats.org/officeDocument/2006/relationships/hyperlink" Target="https://doi.org/10.1109/SECPRI.2002.1004377" TargetMode="External" /><Relationship Id="rId5" Type="http://schemas.openxmlformats.org/officeDocument/2006/relationships/hyperlink" Target="https://doi.org/10.2307/3033543" TargetMode="External" /><Relationship Id="rId6" Type="http://schemas.openxmlformats.org/officeDocument/2006/relationships/hyperlink" Target="https://www.first.org/cvss/v3.1/specification-documen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Моделирование и анализ графов атак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 3</a:t>
            </a:r>
            <a:br/>
            <a:br/>
            <a:r>
              <a:rPr/>
              <a:t>Бердыев Эзиз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Бердыев Эзиз</a:t>
            </a:r>
          </a:p>
          <a:p>
            <a:pPr lvl="0"/>
            <a:r>
              <a:rPr/>
              <a:t>студент группы НФИмд-01-25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1032255390@rudn.ru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Злоумышленник редко атакует цель напрямую — он движется по цепочке узлов.</a:t>
            </a:r>
          </a:p>
          <a:p>
            <a:pPr lvl="0"/>
            <a:r>
              <a:rPr/>
              <a:t>Перечислить все сценарии вручную невозможно уже для небольшой сети.</a:t>
            </a:r>
          </a:p>
          <a:p>
            <a:pPr lvl="0"/>
            <a:r>
              <a:rPr/>
              <a:t>Графовая модель позволяет формализовать процесс проникновения и выделить узлы, защита которых даёт наибольший эффект.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Объект</a:t>
            </a:r>
            <a:r>
              <a:rPr/>
              <a:t> — процесс проникновения злоумышленника в сетевую инфраструктуру.</a:t>
            </a:r>
          </a:p>
          <a:p>
            <a:pPr lvl="0"/>
            <a:r>
              <a:rPr b="1"/>
              <a:t>Предмет</a:t>
            </a:r>
            <a:r>
              <a:rPr/>
              <a:t> — графовая модель атак, алгоритмы поиска путей и метрики выявления критических узлов.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</a:t>
            </a:r>
            <a:r>
              <a:rPr/>
              <a:t> — изучить методы построения и анализа графов атак для оценки защищённости сетевой инфраструктуры.</a:t>
            </a:r>
          </a:p>
          <a:p>
            <a:pPr lvl="0" indent="0" marL="0">
              <a:buNone/>
            </a:pPr>
            <a:r>
              <a:rPr b="1"/>
              <a:t>Задачи:</a:t>
            </a:r>
          </a:p>
          <a:p>
            <a:pPr lvl="0"/>
            <a:r>
              <a:rPr/>
              <a:t>построить граф атак и найти все пути атаки;</a:t>
            </a:r>
          </a:p>
          <a:p>
            <a:pPr lvl="0"/>
            <a:r>
              <a:rPr/>
              <a:t>вычислить метрики центральности и выявить критические узлы;</a:t>
            </a:r>
          </a:p>
          <a:p>
            <a:pPr lvl="0"/>
            <a:r>
              <a:rPr/>
              <a:t>оценить вероятность успешной атаки;</a:t>
            </a:r>
          </a:p>
          <a:p>
            <a:pPr lvl="0"/>
            <a:r>
              <a:rPr/>
              <a:t>исследовать масштабируемость и влияние плотности сети.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Язык Julia [1], пакет Graphs.jl;</a:t>
            </a:r>
          </a:p>
          <a:p>
            <a:pPr lvl="0"/>
            <a:r>
              <a:rPr/>
              <a:t>модель графов атак [2,3];</a:t>
            </a:r>
          </a:p>
          <a:p>
            <a:pPr lvl="0"/>
            <a:r>
              <a:rPr/>
              <a:t>метрики центральности [4,5];</a:t>
            </a:r>
          </a:p>
          <a:p>
            <a:pPr lvl="0"/>
            <a:r>
              <a:rPr/>
              <a:t>оценки уязвимостей CVSS [6].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Основная часть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графа 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Вершины — состояния системы (узлы сети).</a:t>
            </a:r>
          </a:p>
          <a:p>
            <a:pPr lvl="0"/>
            <a:r>
              <a:rPr/>
              <a:t>Рёбра — возможные действия злоумышленника.</a:t>
            </a:r>
          </a:p>
          <a:p>
            <a:pPr lvl="0"/>
            <a:r>
              <a:rPr/>
              <a:t>Отдельно вводятся </a:t>
            </a:r>
            <a:r>
              <a:rPr b="1"/>
              <a:t>доверительные отношения</a:t>
            </a:r>
            <a:r>
              <a:rPr/>
              <a:t> — связи, которыми злоумышленник может воспользоваться гарантированно.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Поиск путей и вероятность атаки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Вероятность пути — произведение вероятностей рёбер: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π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n"/>
                        </m:naryPr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j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π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Логарифмирование сводит максимизацию произведения к минимизации суммы: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π</m:t>
                          </m:r>
                        </m:lim>
                      </m:limLow>
                      <m:r>
                        <m:rPr>
                          <m:sty m:val="p"/>
                        </m:rPr>
                        <m:t>∏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π</m:t>
                          </m:r>
                        </m:lim>
                      </m:limLow>
                      <m:r>
                        <m:rPr>
                          <m:sty m:val="p"/>
                        </m:rPr>
                        <m:t>∑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ln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Веса неотрицательны — применим алгоритм Дейкстры.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 графа</a:t>
            </a:r>
          </a:p>
        </p:txBody>
      </p:sp>
      <p:pic>
        <p:nvPicPr>
          <p:cNvPr descr="image/20260502T022408--attack-graph-visualization__lab03_attackgraph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1: Граф атак с цветовой шкалой по центральности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основного эксперимента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 1814 путей наиболее вероятен самый короткий: каждый лишний переход уменьшает произведение вероятностей.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Критические узлы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Метрики упорядочивают узлы </a:t>
            </a:r>
            <a:r>
              <a:rPr b="1"/>
              <a:t>по-разному</a:t>
            </a:r>
            <a:r>
              <a:rPr/>
              <a:t>: узел 6 при вдвое меньшем in-degree лидирует по betweenness — он лежит на доверительных связях.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Масштабируемость</a:t>
            </a:r>
          </a:p>
        </p:txBody>
      </p:sp>
      <p:pic>
        <p:nvPicPr>
          <p:cNvPr descr="image/20260904T223901--scalability-study-plot__lab03_attackgraph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2: Рост числа путей атаки с размером сети, логарифмическая шкала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Усреднение по 20 графам: с 6 до 16 узлов число путей растёт с 2 до 60 000.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Влияние плотности сети</a:t>
            </a:r>
          </a:p>
        </p:txBody>
      </p:sp>
      <p:pic>
        <p:nvPicPr>
          <p:cNvPr descr="image/20260904T223903--target-reachability-plot__lab03_attackgraph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3: Доля сетей, в которых цель достижима из точки входа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Достижимость выходит на насыщение уже при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0.3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Полученные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Реализованы построение графа, поиск всех путей (DFS), метрики центральности и поиск наиболее вероятного пути.</a:t>
            </a:r>
          </a:p>
          <a:p>
            <a:pPr lvl="0"/>
            <a:r>
              <a:rPr/>
              <a:t>В основном эксперименте найдено 1814 путей атаки.</a:t>
            </a:r>
          </a:p>
          <a:p>
            <a:pPr lvl="0"/>
            <a:r>
              <a:rPr/>
              <a:t>Показано, что разные метрики центральности дают разные упорядочения узлов.</a:t>
            </a:r>
          </a:p>
          <a:p>
            <a:pPr lvl="0"/>
            <a:r>
              <a:rPr/>
              <a:t>Подтверждён экспоненциальный рост числа путей: с 6 до 16 узлов — примерно в 28 тысяч раз.</a:t>
            </a:r>
          </a:p>
          <a:p>
            <a:pPr lvl="0"/>
            <a:r>
              <a:rPr/>
              <a:t>Код преобразован в литературный стиль.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Ограничения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Модель статична: не учитывает действия защитника и изменение состояния узлов после компрометации.</a:t>
            </a:r>
          </a:p>
          <a:p>
            <a:pPr lvl="0"/>
            <a:r>
              <a:rPr/>
              <a:t>Вероятности рёбер считаются независимыми.</a:t>
            </a:r>
          </a:p>
          <a:p>
            <a:pPr lvl="0"/>
            <a:r>
              <a:rPr/>
              <a:t>Полный перебор путей неосуществим для реальных сетей.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Графы атак эффективно формализуют сценарии проникновения.</a:t>
            </a:r>
          </a:p>
          <a:p>
            <a:pPr lvl="0"/>
            <a:r>
              <a:rPr/>
              <a:t>Прямое перечисление путей неприменимо к реальным сетям — растёт экспоненциально.</a:t>
            </a:r>
          </a:p>
          <a:p>
            <a:pPr lvl="0"/>
            <a:r>
              <a:rPr/>
              <a:t>Практическую ценность имеют метрики центральности: они выделяют критические узлы без построения всех путей.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Bezanson J. и др. </a:t>
            </a:r>
            <a:r>
              <a:rPr>
                <a:hlinkClick r:id="rId2"/>
              </a:rPr>
              <a:t>Julia: A Fresh Approach to Numerical Computing</a:t>
            </a:r>
            <a:r>
              <a:rPr/>
              <a:t> // SIAM Review. 2017. Т. 59, № 1. С. 65–98.</a:t>
            </a:r>
          </a:p>
          <a:p>
            <a:pPr lvl="0" indent="0" marL="0">
              <a:buNone/>
            </a:pPr>
            <a:r>
              <a:rPr/>
              <a:t>2. Phillips C., Swiler L. P. </a:t>
            </a:r>
            <a:r>
              <a:rPr>
                <a:hlinkClick r:id="rId3"/>
              </a:rPr>
              <a:t>A Graph-Based System for Network-Vulnerability Analysis</a:t>
            </a:r>
            <a:r>
              <a:rPr/>
              <a:t> // Proceedings of the 1998 Workshop on New Security Paradigms (NSPW ’98). 1998. С. 71–79.</a:t>
            </a:r>
          </a:p>
          <a:p>
            <a:pPr lvl="0" indent="0" marL="0">
              <a:buNone/>
            </a:pPr>
            <a:r>
              <a:rPr/>
              <a:t>3. Sheyner O. и др. </a:t>
            </a:r>
            <a:r>
              <a:rPr>
                <a:hlinkClick r:id="rId4"/>
              </a:rPr>
              <a:t>Automated Generation and Analysis of Attack Graphs</a:t>
            </a:r>
            <a:r>
              <a:rPr/>
              <a:t> // Proceedings of the 2002 IEEE Symposium on Security and Privacy. 2002. С. 273–284.</a:t>
            </a:r>
          </a:p>
          <a:p>
            <a:pPr lvl="0" indent="0" marL="0">
              <a:buNone/>
            </a:pPr>
            <a:r>
              <a:rPr/>
              <a:t>4. Freeman L. C. </a:t>
            </a:r>
            <a:r>
              <a:rPr>
                <a:hlinkClick r:id="rId5"/>
              </a:rPr>
              <a:t>A Set of Measures of Centrality Based on Betweenness</a:t>
            </a:r>
            <a:r>
              <a:rPr/>
              <a:t> // Sociometry. 1977. Т. 40, № 1. С. 35–41.</a:t>
            </a:r>
          </a:p>
          <a:p>
            <a:pPr lvl="0" indent="0" marL="0">
              <a:buNone/>
            </a:pPr>
            <a:r>
              <a:rPr/>
              <a:t>5. Page L. и др. The PageRank Citation Ranking: Bringing Order to the Web: 1999-66. Stanford InfoLab, 1999.</a:t>
            </a:r>
          </a:p>
          <a:p>
            <a:pPr lvl="0" indent="0" marL="0">
              <a:buNone/>
            </a:pPr>
            <a:r>
              <a:rPr/>
              <a:t>6. Forum of Incident Response and Security Teams. </a:t>
            </a:r>
            <a:r>
              <a:rPr>
                <a:hlinkClick r:id="rId6"/>
              </a:rPr>
              <a:t>Common Vulnerability Scoring System version 3.1: Specification Document</a:t>
            </a:r>
            <a:r>
              <a:rPr/>
              <a:t>. 2019.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и анализ графов атак</dc:title>
  <dc:creator>Бердыев Эзиз</dc:creator>
  <cp:keywords/>
  <dcterms:created xsi:type="dcterms:W3CDTF">2026-09-04T17:54:45Z</dcterms:created>
  <dcterms:modified xsi:type="dcterms:W3CDTF">2026-09-04T17:54:45Z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_resources/csl/gost-r-7-0-5-2008-numeric.csl</vt:lpwstr>
  </property>
  <property fmtid="{D5CDD505-2E9C-101B-9397-08002B2CF9AE}" pid="10" name="date">
    <vt:lpwstr>2026-09-04</vt:lpwstr>
  </property>
  <property fmtid="{D5CDD505-2E9C-101B-9397-08002B2CF9AE}" pid="11" name="date-format">
    <vt:lpwstr>YYYY-MM-DD</vt:lpwstr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labels">
    <vt:lpwstr/>
  </property>
  <property fmtid="{D5CDD505-2E9C-101B-9397-08002B2CF9AE}" pid="16" name="license">
    <vt:lpwstr/>
  </property>
  <property fmtid="{D5CDD505-2E9C-101B-9397-08002B2CF9AE}" pid="17" name="subtitle">
    <vt:lpwstr>Лабораторная работа № 3</vt:lpwstr>
  </property>
  <property fmtid="{D5CDD505-2E9C-101B-9397-08002B2CF9AE}" pid="18" name="toc-title">
    <vt:lpwstr>Содержание</vt:lpwstr>
  </property>
</Properties>
</file>